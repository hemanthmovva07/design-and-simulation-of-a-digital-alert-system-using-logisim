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25880"/>
            <a:ext cx="1218895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DIGITAL DESIGN &amp; COMPUTER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106527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700" b="1">
                <a:solidFill>
                  <a:srgbClr val="000000"/>
                </a:solidFill>
                <a:latin typeface="Aptos"/>
              </a:rPr>
              <a:t>Combinational Logic &amp; Sequential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Aptos"/>
              </a:rPr>
              <a:t>Building the ALU · Registers · Counters · FSMs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27248"/>
            <a:ext cx="1218895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Aptos"/>
              </a:rPr>
              <a:t>DDCA Group 13 · Module 2 + Module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069080"/>
            <a:ext cx="8549640" cy="1078992"/>
          </a:xfrm>
          <a:prstGeom prst="roundRect">
            <a:avLst/>
          </a:prstGeom>
          <a:solidFill>
            <a:srgbClr val="162032"/>
          </a:solidFill>
          <a:ln>
            <a:solidFill>
              <a:srgbClr val="2C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4270248"/>
            <a:ext cx="1600200" cy="65836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12264" y="4370832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ptos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2264" y="4572000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bits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85032" y="4599432"/>
            <a:ext cx="41148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42231" y="4270248"/>
            <a:ext cx="1600200" cy="65836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7095" y="4370832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ptos"/>
              </a:rPr>
              <a:t>COMBINATIONAL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5" y="4572000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ALU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9864" y="4599432"/>
            <a:ext cx="41148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7064" y="4270248"/>
            <a:ext cx="1600200" cy="65836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7" y="4370832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ptos"/>
              </a:rPr>
              <a:t>SEQUENTIAL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7" y="4572000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state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54696" y="4599432"/>
            <a:ext cx="411479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11896" y="4270248"/>
            <a:ext cx="1600200" cy="65836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370832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ptos"/>
              </a:rPr>
              <a:t>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572000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next instruction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69280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Samhitha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Aptos"/>
              </a:rPr>
              <a:t>2620090087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669280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Mithil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943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Aptos"/>
              </a:rPr>
              <a:t>2620090108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669280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Sampath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943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Aptos"/>
              </a:rPr>
              <a:t>2620090101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39" y="5669280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Hemanth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39" y="5943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Aptos"/>
              </a:rPr>
              <a:t>2620090109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D"/>
                </a:solidFill>
                <a:latin typeface="Aptos"/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4937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DDCA · Group 13 · Modules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B6B82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84831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3DDC9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737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162032"/>
                </a:solidFill>
                <a:latin typeface="Aptos"/>
              </a:rPr>
              <a:t>COMBINATIONAL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456432"/>
            <a:ext cx="1682496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No memory · current 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4407408"/>
            <a:ext cx="1682496" cy="64008"/>
          </a:xfrm>
          <a:prstGeom prst="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39" y="1874519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799" y="2084831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3DDC97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2788920"/>
            <a:ext cx="1737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162032"/>
                </a:solidFill>
                <a:latin typeface="Aptos"/>
              </a:rPr>
              <a:t>ARITHMETIC CIRCUITS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456432"/>
            <a:ext cx="1682496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Add · subtract · compare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9232" y="4407408"/>
            <a:ext cx="1682496" cy="64008"/>
          </a:xfrm>
          <a:prstGeom prst="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66359" y="1874519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084831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3DDC97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788920"/>
            <a:ext cx="1737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162032"/>
                </a:solidFill>
                <a:latin typeface="Aptos"/>
              </a:rPr>
              <a:t>THE ALU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3456432"/>
            <a:ext cx="1682496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One calculator block for the CPU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0951" y="4407408"/>
            <a:ext cx="1682496" cy="64008"/>
          </a:xfrm>
          <a:prstGeom prst="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79" y="1874519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084831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3DDC97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788920"/>
            <a:ext cx="1737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162032"/>
                </a:solidFill>
                <a:latin typeface="Aptos"/>
              </a:rPr>
              <a:t>SEQUENTIAL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456432"/>
            <a:ext cx="1682496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State · clock · flip-flops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62671" y="4407408"/>
            <a:ext cx="1682496" cy="64008"/>
          </a:xfrm>
          <a:prstGeom prst="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29800" y="1874519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084831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3DDC97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788920"/>
            <a:ext cx="1737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162032"/>
                </a:solidFill>
                <a:latin typeface="Aptos"/>
              </a:rPr>
              <a:t>REGISTERS + FSMs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3456432"/>
            <a:ext cx="1682496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Remember · step · 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94392" y="4407408"/>
            <a:ext cx="1682496" cy="64008"/>
          </a:xfrm>
          <a:prstGeom prst="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7442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B1E3D"/>
                </a:solidFill>
                <a:latin typeface="Aptos"/>
              </a:rPr>
              <a:t>One thread connects both modules: combinational logic computes a result; sequential logic stores it and moves the CPU forward.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D"/>
                </a:solidFill>
                <a:latin typeface="Aptos"/>
              </a:rPr>
              <a:t>Making Decisions with Combinational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4937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DDCA · Group 13 · Modules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B6B82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97180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81912"/>
            <a:ext cx="2752344" cy="3931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DEFINING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12848"/>
            <a:ext cx="2670048" cy="10241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62032"/>
                </a:solidFill>
                <a:latin typeface="Aptos"/>
              </a:rPr>
              <a:t>Output depends only on the current inputs.
No memory. No clock. No stored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64208"/>
            <a:ext cx="1965960" cy="105156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79" y="1847088"/>
            <a:ext cx="17830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79" y="2148840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BFD0EC"/>
                </a:solidFill>
                <a:latin typeface="Aptos"/>
              </a:rPr>
              <a:t>A, B, 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61888" y="2194560"/>
            <a:ext cx="374904" cy="0"/>
          </a:xfrm>
          <a:prstGeom prst="line">
            <a:avLst/>
          </a:prstGeom>
          <a:ln w="2794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73368" y="1664208"/>
            <a:ext cx="1965960" cy="105156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847088"/>
            <a:ext cx="17830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148840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BFD0EC"/>
                </a:solidFill>
                <a:latin typeface="Aptos"/>
              </a:rPr>
              <a:t>gates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57616" y="2194560"/>
            <a:ext cx="374904" cy="0"/>
          </a:xfrm>
          <a:prstGeom prst="line">
            <a:avLst/>
          </a:prstGeom>
          <a:ln w="2794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69096" y="1664208"/>
            <a:ext cx="1965960" cy="105156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0536" y="1847088"/>
            <a:ext cx="17830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2148840"/>
            <a:ext cx="1783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BFD0EC"/>
                </a:solidFill>
                <a:latin typeface="Aptos"/>
              </a:rP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246120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K-MAPS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566160"/>
            <a:ext cx="72694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Aptos"/>
              </a:rPr>
              <a:t>Simplify Boolean expressions by grouping adjacent 1s (or 0s). Fewer terms → fewer gates → faster, cheaper, lower-power hardware.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096512"/>
            <a:ext cx="23774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B82"/>
                </a:solidFill>
                <a:latin typeface="Aptos"/>
              </a:rPr>
              <a:t>Example: 2-variable K-map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7639" y="4343400"/>
            <a:ext cx="6217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4343400"/>
            <a:ext cx="621792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6B82"/>
                </a:solidFill>
                <a:latin typeface="Aptos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9431" y="4343400"/>
            <a:ext cx="6217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4343400"/>
            <a:ext cx="621792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3DDC97"/>
                </a:solidFill>
                <a:latin typeface="Apto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4846320"/>
            <a:ext cx="6217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4846320"/>
            <a:ext cx="621792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3DDC97"/>
                </a:solidFill>
                <a:latin typeface="Aptos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9431" y="4846320"/>
            <a:ext cx="6217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4846320"/>
            <a:ext cx="621792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3DDC97"/>
                </a:solidFill>
                <a:latin typeface="Apto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59" y="4389120"/>
            <a:ext cx="1152144" cy="411480"/>
          </a:xfrm>
          <a:prstGeom prst="round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4599432"/>
            <a:ext cx="28346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62032"/>
                </a:solidFill>
                <a:latin typeface="Aptos"/>
              </a:rPr>
              <a:t>→ grouped terms → simplified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715000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B82"/>
                </a:solidFill>
                <a:latin typeface="Aptos"/>
              </a:rPr>
              <a:t>Worked examples keep the design flow concrete: specification → truth table → K-map → simplified circuit.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D"/>
                </a:solidFill>
                <a:latin typeface="Aptos"/>
              </a:rPr>
              <a:t>Arithmetic Circuits: From Bits to Wide Adders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4937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DDCA · Group 13 · Modules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B6B82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242316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54480"/>
            <a:ext cx="2203704" cy="3931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HALF 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515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B1E3D"/>
                </a:solidFill>
                <a:latin typeface="Aptos"/>
              </a:rPr>
              <a:t>A +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15184"/>
            <a:ext cx="2176272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5B6B82"/>
                </a:solidFill>
                <a:latin typeface="Aptos"/>
              </a:rPr>
              <a:t>SUM = A ⊕ B
CARRY = A ·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81328"/>
            <a:ext cx="242316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554480"/>
            <a:ext cx="2203704" cy="3931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FULL ADDER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19659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B1E3D"/>
                </a:solidFill>
                <a:latin typeface="Aptos"/>
              </a:rPr>
              <a:t>A + B + Cᵢₙ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615184"/>
            <a:ext cx="2084831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5B6B82"/>
                </a:solidFill>
                <a:latin typeface="Aptos"/>
              </a:rPr>
              <a:t>SUM = A ⊕ B ⊕ Cᵢₙ
Cₒᵤₜ generated by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481328"/>
            <a:ext cx="544068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554480"/>
            <a:ext cx="5221224" cy="3931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RIPPLE-CARRY ADDER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48840"/>
            <a:ext cx="868680" cy="566928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295144"/>
            <a:ext cx="868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05472" y="2432304"/>
            <a:ext cx="310896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52944" y="2148840"/>
            <a:ext cx="868680" cy="566928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2295144"/>
            <a:ext cx="868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49056" y="2432304"/>
            <a:ext cx="310896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796528" y="2148840"/>
            <a:ext cx="868680" cy="566928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2295144"/>
            <a:ext cx="868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92640" y="2432304"/>
            <a:ext cx="310896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40112" y="2148840"/>
            <a:ext cx="868680" cy="566928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2295144"/>
            <a:ext cx="8686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971800"/>
            <a:ext cx="480060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B82"/>
                </a:solidFill>
                <a:latin typeface="Aptos"/>
              </a:rPr>
              <a:t>Carry ripples from the least-significant bit toward the most-significant bit.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703320"/>
            <a:ext cx="4846320" cy="64008"/>
          </a:xfrm>
          <a:prstGeom prst="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187952"/>
            <a:ext cx="4663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SUBTRACTION WITH TWO'S COMPLEMENT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617720"/>
            <a:ext cx="29718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E3D"/>
                </a:solidFill>
                <a:latin typeface="Aptos"/>
              </a:rPr>
              <a:t>A − B = A + (~B) + 1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553712"/>
            <a:ext cx="3794760" cy="8686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  <a:latin typeface="Aptos"/>
              </a:rPr>
              <a:t>One control bit can choose add or subtract:
invert B when SUB = 1, and feed SUB into the carry-in.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4443984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4645152"/>
            <a:ext cx="29260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D5A80"/>
                </a:solidFill>
                <a:latin typeface="Aptos"/>
              </a:rPr>
              <a:t>ADD/SUB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910328"/>
            <a:ext cx="29260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62032"/>
                </a:solidFill>
                <a:latin typeface="Aptos"/>
              </a:rPr>
              <a:t>SUB = 0 → A + B
SUB = 1 → A + ~B + 1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97880"/>
            <a:ext cx="10789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5B6B82"/>
                </a:solidFill>
                <a:latin typeface="Aptos"/>
              </a:rPr>
              <a:t>Wide adders are slower because carry information must travel across stages.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D"/>
                </a:solidFill>
                <a:latin typeface="Aptos"/>
              </a:rPr>
              <a:t>The ALU: The CPU's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4937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DDCA · Group 13 · Modules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B6B82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78892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36192"/>
            <a:ext cx="2569463" cy="3931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STANDARD BLOCKS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240280"/>
            <a:ext cx="82296" cy="82296"/>
          </a:xfrm>
          <a:prstGeom prst="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2167127" cy="4297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B82"/>
                </a:solidFill>
                <a:latin typeface="Aptos"/>
              </a:rPr>
              <a:t>Multiplexer — selects one data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743200"/>
            <a:ext cx="82296" cy="82296"/>
          </a:xfrm>
          <a:prstGeom prst="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651760"/>
            <a:ext cx="2167127" cy="4297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B82"/>
                </a:solidFill>
                <a:latin typeface="Aptos"/>
              </a:rPr>
              <a:t>Decoder — activates one output 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246120"/>
            <a:ext cx="82296" cy="82296"/>
          </a:xfrm>
          <a:prstGeom prst="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154680"/>
            <a:ext cx="2167127" cy="4297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B82"/>
                </a:solidFill>
                <a:latin typeface="Aptos"/>
              </a:rPr>
              <a:t>Comparator — equality / ordering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481328"/>
            <a:ext cx="6583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ALU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1847088"/>
            <a:ext cx="6583680" cy="2971800"/>
          </a:xfrm>
          <a:prstGeom prst="roundRect">
            <a:avLst/>
          </a:prstGeom>
          <a:solidFill>
            <a:srgbClr val="0B1E3D"/>
          </a:solidFill>
          <a:ln>
            <a:solidFill>
              <a:srgbClr val="0B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2240280"/>
            <a:ext cx="457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907792"/>
            <a:ext cx="457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53712" y="2368296"/>
            <a:ext cx="521208" cy="0"/>
          </a:xfrm>
          <a:prstGeom prst="line">
            <a:avLst/>
          </a:prstGeom>
          <a:ln w="25400">
            <a:solidFill>
              <a:srgbClr val="BFD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53712" y="3035808"/>
            <a:ext cx="521208" cy="0"/>
          </a:xfrm>
          <a:prstGeom prst="line">
            <a:avLst/>
          </a:prstGeom>
          <a:ln w="25400">
            <a:solidFill>
              <a:srgbClr val="BFD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74920" y="2084831"/>
            <a:ext cx="123444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194560"/>
            <a:ext cx="12344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ADD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79" y="2084831"/>
            <a:ext cx="123444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2194560"/>
            <a:ext cx="12344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084831"/>
            <a:ext cx="123444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194560"/>
            <a:ext cx="12344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2953511"/>
            <a:ext cx="123444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3063239"/>
            <a:ext cx="12344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79" y="2953511"/>
            <a:ext cx="123444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79" y="3063239"/>
            <a:ext cx="12344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041648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DDC97"/>
                </a:solidFill>
                <a:latin typeface="Aptos"/>
              </a:rPr>
              <a:t>OP SELECT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166360"/>
            <a:ext cx="48920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B82"/>
                </a:solidFill>
                <a:latin typeface="Aptos"/>
              </a:rPr>
              <a:t>Operation-select input chooses what the ALU computes.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48672" y="2743200"/>
            <a:ext cx="1417320" cy="594360"/>
          </a:xfrm>
          <a:prstGeom prst="round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48672" y="2907792"/>
            <a:ext cx="14173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B1E3D"/>
                </a:solidFill>
                <a:latin typeface="Aptos"/>
              </a:rPr>
              <a:t>RESULT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58400" y="3246120"/>
            <a:ext cx="0" cy="41148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4360" y="5212080"/>
            <a:ext cx="2788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76672"/>
            <a:ext cx="914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D5A80"/>
                </a:solidFill>
                <a:latin typeface="Aptos"/>
              </a:rPr>
              <a:t>MILESTONE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23560"/>
            <a:ext cx="2331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0B1E3D"/>
                </a:solidFill>
                <a:latin typeface="Aptos"/>
              </a:rPr>
              <a:t>Working ALU in the simulator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D"/>
                </a:solidFill>
                <a:latin typeface="Aptos"/>
              </a:rPr>
              <a:t>Specification → Circuit →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4937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DDCA · Group 13 · Modules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B6B82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99339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773936"/>
            <a:ext cx="3657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810512"/>
            <a:ext cx="1234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62032"/>
                </a:solidFill>
                <a:latin typeface="Aptos"/>
              </a:rPr>
              <a:t>SPECIFY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95728"/>
            <a:ext cx="16459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What must the circuit do?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560320"/>
            <a:ext cx="256032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572768"/>
            <a:ext cx="199339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1773936"/>
            <a:ext cx="3657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810512"/>
            <a:ext cx="1234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62032"/>
                </a:solidFill>
                <a:latin typeface="Aptos"/>
              </a:rPr>
              <a:t>TRUTH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395728"/>
            <a:ext cx="16459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Enumerate input / output behaviour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2560320"/>
            <a:ext cx="256032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1572768"/>
            <a:ext cx="199339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1773936"/>
            <a:ext cx="3657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3288" y="1810512"/>
            <a:ext cx="1234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62032"/>
                </a:solidFill>
                <a:latin typeface="Aptos"/>
              </a:rPr>
              <a:t>SIMPLIFY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2395728"/>
            <a:ext cx="16459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Use Boolean algebra / K-map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78040" y="2560320"/>
            <a:ext cx="256031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572768"/>
            <a:ext cx="199339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1773936"/>
            <a:ext cx="3657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7" y="1810512"/>
            <a:ext cx="1234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62032"/>
                </a:solidFill>
                <a:latin typeface="Aptos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2395728"/>
            <a:ext cx="16459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Choose gates and connect them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09759" y="2560320"/>
            <a:ext cx="256033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1572768"/>
            <a:ext cx="199339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76104" y="1773936"/>
            <a:ext cx="3657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6728" y="1810512"/>
            <a:ext cx="1234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62032"/>
                </a:solidFill>
                <a:latin typeface="Aptos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2395728"/>
            <a:ext cx="16459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B6B82"/>
                </a:solidFill>
                <a:latin typeface="Aptos"/>
              </a:rPr>
              <a:t>Verify every important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023360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SIMULATOR CHECK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407408"/>
            <a:ext cx="10927080" cy="1188720"/>
          </a:xfrm>
          <a:prstGeom prst="roundRect">
            <a:avLst/>
          </a:prstGeom>
          <a:solidFill>
            <a:srgbClr val="0B1E3D"/>
          </a:solidFill>
          <a:ln>
            <a:solidFill>
              <a:srgbClr val="0B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617720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BFD0EC"/>
                </a:solidFill>
                <a:latin typeface="Aptos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846320"/>
            <a:ext cx="502920" cy="38404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928616"/>
            <a:ext cx="502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39" y="4617720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BFD0EC"/>
                </a:solidFill>
                <a:latin typeface="Aptos"/>
              </a:rPr>
              <a:t>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39" y="4846320"/>
            <a:ext cx="502920" cy="38404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0239" y="4928616"/>
            <a:ext cx="502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617720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BFD0EC"/>
                </a:solidFill>
                <a:latin typeface="Aptos"/>
              </a:rPr>
              <a:t>SUB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71800" y="4846320"/>
            <a:ext cx="502920" cy="38404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928616"/>
            <a:ext cx="502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59" y="4617720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BFD0EC"/>
                </a:solidFill>
                <a:latin typeface="Aptos"/>
              </a:rPr>
              <a:t>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23359" y="4846320"/>
            <a:ext cx="502920" cy="38404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59" y="4928616"/>
            <a:ext cx="502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4864608"/>
            <a:ext cx="41148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06440" y="4617720"/>
            <a:ext cx="1965960" cy="56692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06440" y="4773168"/>
            <a:ext cx="1965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ALU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4864608"/>
            <a:ext cx="41148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12480" y="4617720"/>
            <a:ext cx="2423160" cy="566928"/>
          </a:xfrm>
          <a:prstGeom prst="roundRect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4773168"/>
            <a:ext cx="24231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B1E3D"/>
                </a:solidFill>
                <a:latin typeface="Aptos"/>
              </a:rPr>
              <a:t>RESULT = verified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961888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B1E3D"/>
                </a:solidFill>
                <a:latin typeface="Aptos"/>
              </a:rPr>
              <a:t>Milestone: a working ALU is the first major sub-system of the RISC-V CPU.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DC97"/>
                </a:solidFill>
                <a:latin typeface="Aptos"/>
              </a:rP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From Logic to a Living CPU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2331720" cy="1234440"/>
          </a:xfrm>
          <a:prstGeom prst="roundRect">
            <a:avLst/>
          </a:prstGeom>
          <a:solidFill>
            <a:srgbClr val="162032"/>
          </a:solidFill>
          <a:ln>
            <a:solidFill>
              <a:srgbClr val="2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2496312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3DDC97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15087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COMBINATIONAL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35224"/>
            <a:ext cx="1965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Logic computes from current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931920"/>
            <a:ext cx="2331720" cy="1234440"/>
          </a:xfrm>
          <a:prstGeom prst="roundRect">
            <a:avLst/>
          </a:prstGeom>
          <a:solidFill>
            <a:srgbClr val="162032"/>
          </a:solidFill>
          <a:ln>
            <a:solidFill>
              <a:srgbClr val="2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4096511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3DDC97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4114800"/>
            <a:ext cx="15087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ALU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4535424"/>
            <a:ext cx="1965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Add, subtract, AND, OR and compare in one block.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31720"/>
            <a:ext cx="2331720" cy="1234440"/>
          </a:xfrm>
          <a:prstGeom prst="roundRect">
            <a:avLst/>
          </a:prstGeom>
          <a:solidFill>
            <a:srgbClr val="162032"/>
          </a:solidFill>
          <a:ln>
            <a:solidFill>
              <a:srgbClr val="2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496312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3DDC97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14600"/>
            <a:ext cx="15087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SEQUENTIAL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935224"/>
            <a:ext cx="1965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Flip-flops and clocks give the machine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3931920"/>
            <a:ext cx="2331720" cy="1234440"/>
          </a:xfrm>
          <a:prstGeom prst="roundRect">
            <a:avLst/>
          </a:prstGeom>
          <a:solidFill>
            <a:srgbClr val="162032"/>
          </a:solidFill>
          <a:ln>
            <a:solidFill>
              <a:srgbClr val="2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3" y="4096511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3DDC97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19" y="4114800"/>
            <a:ext cx="15087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CPU FABRIC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4535424"/>
            <a:ext cx="1965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Registers, PC and FSMs remember and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61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Small, testable blocks combine into the first major pieces of a RISC-V CPU.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199632"/>
            <a:ext cx="1218895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DDC97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DDCA – Module 2</dc:title>
  <dc:subject>Digital Design &amp; Computer Architecture</dc:subject>
  <dc:creator>DDCA Group 13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
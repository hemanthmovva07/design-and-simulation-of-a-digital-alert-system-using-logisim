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25880"/>
            <a:ext cx="1218895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ptos"/>
              </a:rPr>
              <a:t>DIGITAL DESIGN &amp; COMPUTER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106527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3700" b="1">
                <a:solidFill>
                  <a:srgbClr val="000000"/>
                </a:solidFill>
                <a:latin typeface="Aptos"/>
              </a:rPr>
              <a:t>Combinational Logic &amp; Sequential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5029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Aptos"/>
              </a:rPr>
              <a:t>Building the ALU · Registers · Counters · FSMs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27248"/>
            <a:ext cx="12188952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000000"/>
                </a:solidFill>
                <a:latin typeface="Aptos"/>
              </a:rPr>
              <a:t>DDCA Group 13 · Module 2 + Module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069080"/>
            <a:ext cx="8549640" cy="1078992"/>
          </a:xfrm>
          <a:prstGeom prst="roundRect">
            <a:avLst/>
          </a:prstGeom>
          <a:solidFill>
            <a:srgbClr val="162032"/>
          </a:solidFill>
          <a:ln>
            <a:solidFill>
              <a:srgbClr val="2C4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57400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12264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2264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bits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85032" y="4599432"/>
            <a:ext cx="41148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42231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7095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COMBINATIONAL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7095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ALU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9864" y="4599432"/>
            <a:ext cx="41148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7064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7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SEQUENTIAL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state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54696" y="4599432"/>
            <a:ext cx="411479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311896" y="4270248"/>
            <a:ext cx="1600200" cy="658368"/>
          </a:xfrm>
          <a:prstGeom prst="roundRect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370832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ptos"/>
              </a:rPr>
              <a:t>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572000"/>
            <a:ext cx="1490472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000000"/>
                </a:solidFill>
                <a:latin typeface="Aptos"/>
              </a:rPr>
              <a:t>next instruction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Samhitha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2620090087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Mithil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2620090108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Sampath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2620090101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39" y="5669280"/>
            <a:ext cx="22860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ptos"/>
              </a:rPr>
              <a:t>Hemanth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39" y="5943600"/>
            <a:ext cx="22860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000000"/>
                </a:solidFill>
                <a:latin typeface="Aptos"/>
              </a:rPr>
              <a:t>2620090109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Remembering &amp; Keeping Time: Sequential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283464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54480"/>
            <a:ext cx="261518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WHY STATE?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76272"/>
            <a:ext cx="2487168" cy="105156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2032"/>
                </a:solidFill>
                <a:latin typeface="Aptos"/>
              </a:rPr>
              <a:t>Combinational logic forgets.
A CPU must remember values and step through instructions one clock at a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554480"/>
            <a:ext cx="2103120" cy="77724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78308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554480"/>
            <a:ext cx="2331720" cy="77724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783080"/>
            <a:ext cx="2331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NEXT STATE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61888" y="1938528"/>
            <a:ext cx="804672" cy="0"/>
          </a:xfrm>
          <a:prstGeom prst="line">
            <a:avLst/>
          </a:prstGeom>
          <a:ln w="29209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892040" y="2359152"/>
            <a:ext cx="3063239" cy="585216"/>
          </a:xfrm>
          <a:prstGeom prst="line">
            <a:avLst/>
          </a:prstGeom>
          <a:ln w="29209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06440" y="2395728"/>
            <a:ext cx="9144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2"/>
                </a:solidFill>
                <a:latin typeface="Aptos"/>
              </a:rPr>
              <a:t>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063240"/>
            <a:ext cx="3657600" cy="25603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LATCHES &amp; FLIP-FLOPS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0" y="3493008"/>
            <a:ext cx="2084831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3657600"/>
            <a:ext cx="193852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62032"/>
                </a:solidFill>
                <a:latin typeface="Aptos"/>
              </a:rPr>
              <a:t>SR LATCH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13632" y="4005072"/>
            <a:ext cx="19385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2"/>
                </a:solidFill>
                <a:latin typeface="Aptos"/>
              </a:rPr>
              <a:t>set / reset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493008"/>
            <a:ext cx="2084831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657600"/>
            <a:ext cx="193852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62032"/>
                </a:solidFill>
                <a:latin typeface="Aptos"/>
              </a:rPr>
              <a:t>D LATCH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005072"/>
            <a:ext cx="19385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2"/>
                </a:solidFill>
                <a:latin typeface="Aptos"/>
              </a:rPr>
              <a:t>level-sensitive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31936" y="3493008"/>
            <a:ext cx="2084831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05088" y="3657600"/>
            <a:ext cx="1938528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162032"/>
                </a:solidFill>
                <a:latin typeface="Aptos"/>
              </a:rPr>
              <a:t>D FLIP-FLOP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005072"/>
            <a:ext cx="1938528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50" b="0">
                <a:solidFill>
                  <a:srgbClr val="5B6B82"/>
                </a:solidFill>
                <a:latin typeface="Aptos"/>
              </a:rPr>
              <a:t>edge-triggered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892040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3D5A80"/>
                </a:solidFill>
                <a:latin typeface="Aptos"/>
              </a:rPr>
              <a:t>CLOCK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846320" y="5257800"/>
            <a:ext cx="36576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212080" y="4846320"/>
            <a:ext cx="0" cy="41148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212080" y="4846320"/>
            <a:ext cx="36576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77840" y="4846320"/>
            <a:ext cx="0" cy="41148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577840" y="5257800"/>
            <a:ext cx="36576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943600" y="4846320"/>
            <a:ext cx="0" cy="41148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943600" y="4846320"/>
            <a:ext cx="36576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09360" y="4846320"/>
            <a:ext cx="0" cy="41148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09360" y="5257800"/>
            <a:ext cx="36576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903720" y="4773168"/>
            <a:ext cx="406908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5B6B82"/>
                </a:solidFill>
                <a:latin typeface="Aptos"/>
              </a:rPr>
              <a:t>Edge-triggering makes synchronous systems predictable. Setup/hold time matters around the active clock 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Registers &amp; Counters: Giving the CPU a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88036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36192"/>
            <a:ext cx="266090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REGISTER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8136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55064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55064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38528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21992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21992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456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456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88920" y="2194560"/>
            <a:ext cx="246888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2331720"/>
            <a:ext cx="246888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2907792"/>
            <a:ext cx="2542032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5B6B82"/>
                </a:solidFill>
                <a:latin typeface="Aptos"/>
              </a:rPr>
              <a:t>8 flip-flops → one 8-bit stored value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03320" y="1463040"/>
            <a:ext cx="288036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1536192"/>
            <a:ext cx="266090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SHIFT REGISTER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2194560"/>
            <a:ext cx="41148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77639" y="2331720"/>
            <a:ext cx="4114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07407" y="2450592"/>
            <a:ext cx="73152" cy="0"/>
          </a:xfrm>
          <a:prstGeom prst="line">
            <a:avLst/>
          </a:prstGeom>
          <a:ln w="2286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498848" y="2194560"/>
            <a:ext cx="41148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8848" y="2331720"/>
            <a:ext cx="4114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928616" y="2450592"/>
            <a:ext cx="73152" cy="0"/>
          </a:xfrm>
          <a:prstGeom prst="line">
            <a:avLst/>
          </a:prstGeom>
          <a:ln w="2286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020055" y="2194560"/>
            <a:ext cx="41148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0055" y="2331720"/>
            <a:ext cx="4114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49823" y="2450592"/>
            <a:ext cx="73152" cy="0"/>
          </a:xfrm>
          <a:prstGeom prst="line">
            <a:avLst/>
          </a:prstGeom>
          <a:ln w="2286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541264" y="2194560"/>
            <a:ext cx="41148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41264" y="2331720"/>
            <a:ext cx="41148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2" y="2907792"/>
            <a:ext cx="2514600" cy="38404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5B6B82"/>
                </a:solidFill>
                <a:latin typeface="Aptos"/>
              </a:rPr>
              <a:t>Bits move left or right each clock.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12280" y="1463040"/>
            <a:ext cx="4709160" cy="502920"/>
          </a:xfrm>
          <a:prstGeom prst="roundRect">
            <a:avLst/>
          </a:prstGeom>
          <a:solidFill>
            <a:srgbClr val="1E3456"/>
          </a:solidFill>
          <a:ln>
            <a:solidFill>
              <a:srgbClr val="1E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2008" y="1536192"/>
            <a:ext cx="4489704" cy="393192"/>
          </a:xfrm>
          <a:prstGeom prst="rect">
            <a:avLst/>
          </a:prstGeom>
          <a:noFill/>
        </p:spPr>
        <p:txBody>
          <a:bodyPr wrap="non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PROGRAM-COUNTER PATTERN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59168" y="2148840"/>
            <a:ext cx="822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59168" y="2322576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2032"/>
                </a:solidFill>
                <a:latin typeface="Aptos"/>
              </a:rPr>
              <a:t>00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900416" y="2450592"/>
            <a:ext cx="18288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10727" y="2148840"/>
            <a:ext cx="822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0727" y="2322576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2032"/>
                </a:solidFill>
                <a:latin typeface="Aptos"/>
              </a:rPr>
              <a:t>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951976" y="2450592"/>
            <a:ext cx="182879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9162288" y="2148840"/>
            <a:ext cx="822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62288" y="2322576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2032"/>
                </a:solidFill>
                <a:latin typeface="Aptos"/>
              </a:rPr>
              <a:t>10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003536" y="2450592"/>
            <a:ext cx="18288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0213848" y="2148840"/>
            <a:ext cx="8229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213848" y="2322576"/>
            <a:ext cx="82296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2032"/>
                </a:solidFill>
                <a:latin typeface="Aptos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59168" y="2999232"/>
            <a:ext cx="4160520" cy="6583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5B6B82"/>
                </a:solidFill>
                <a:latin typeface="Aptos"/>
              </a:rPr>
              <a:t>The PC stores 'which instruction is next'.
A clock edge updates the stored address.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4360" y="3977639"/>
            <a:ext cx="10927080" cy="1234440"/>
          </a:xfrm>
          <a:prstGeom prst="roundRect">
            <a:avLst/>
          </a:prstGeom>
          <a:solidFill>
            <a:srgbClr val="0B1E3D"/>
          </a:solidFill>
          <a:ln>
            <a:solidFill>
              <a:srgbClr val="0B1E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4224528"/>
            <a:ext cx="11887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000" b="1">
                <a:solidFill>
                  <a:srgbClr val="3DDC97"/>
                </a:solidFill>
                <a:latin typeface="Aptos"/>
              </a:rPr>
              <a:t>CLOCK EDGE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103120" y="4681728"/>
            <a:ext cx="160020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703320" y="4251960"/>
            <a:ext cx="0" cy="429768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703320" y="4251960"/>
            <a:ext cx="548640" cy="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370832" y="4133087"/>
            <a:ext cx="14173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register captures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89320" y="4133087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old value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3720" y="4133087"/>
            <a:ext cx="41148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3DDC97"/>
                </a:solidFill>
                <a:latin typeface="Aptos"/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52360" y="4133087"/>
            <a:ext cx="91440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new value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4956048"/>
            <a:ext cx="996696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Synchronous design: all storage elements respond to the same clock discipline.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E3D"/>
                </a:solidFill>
                <a:latin typeface="Aptos"/>
              </a:rPr>
              <a:t>Finite State Machines: Turning Steps into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47104"/>
            <a:ext cx="4937760" cy="16459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DDCA · Group 13 · Modules 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45720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r"/>
            <a:r>
              <a:rPr sz="900" b="1">
                <a:solidFill>
                  <a:srgbClr val="5B6B82"/>
                </a:solidFill>
                <a:latin typeface="Aptos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10789920" cy="56692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162032"/>
                </a:solidFill>
                <a:latin typeface="Aptos"/>
              </a:rPr>
              <a:t>A FSM describes step-by-step behaviour using states + transitions.
The control unit can be built from this pattern.</a:t>
            </a:r>
          </a:p>
        </p:txBody>
      </p:sp>
      <p:sp>
        <p:nvSpPr>
          <p:cNvPr id="7" name="Oval 6"/>
          <p:cNvSpPr/>
          <p:nvPr/>
        </p:nvSpPr>
        <p:spPr>
          <a:xfrm>
            <a:off x="1874519" y="2880360"/>
            <a:ext cx="1417320" cy="658368"/>
          </a:xfrm>
          <a:prstGeom prst="ellipse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3063240"/>
            <a:ext cx="1417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IDLE</a:t>
            </a:r>
          </a:p>
        </p:txBody>
      </p:sp>
      <p:sp>
        <p:nvSpPr>
          <p:cNvPr id="9" name="Oval 8"/>
          <p:cNvSpPr/>
          <p:nvPr/>
        </p:nvSpPr>
        <p:spPr>
          <a:xfrm>
            <a:off x="4800600" y="1965960"/>
            <a:ext cx="1417320" cy="658368"/>
          </a:xfrm>
          <a:prstGeom prst="ellipse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148840"/>
            <a:ext cx="1417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RUN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2880360"/>
            <a:ext cx="1417320" cy="658368"/>
          </a:xfrm>
          <a:prstGeom prst="ellipse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063240"/>
            <a:ext cx="1417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DONE</a:t>
            </a:r>
          </a:p>
        </p:txBody>
      </p:sp>
      <p:sp>
        <p:nvSpPr>
          <p:cNvPr id="13" name="Oval 12"/>
          <p:cNvSpPr/>
          <p:nvPr/>
        </p:nvSpPr>
        <p:spPr>
          <a:xfrm>
            <a:off x="4800600" y="3886200"/>
            <a:ext cx="1417320" cy="658368"/>
          </a:xfrm>
          <a:prstGeom prst="ellipse">
            <a:avLst/>
          </a:prstGeom>
          <a:solidFill>
            <a:srgbClr val="1E3456"/>
          </a:solidFill>
          <a:ln>
            <a:solidFill>
              <a:srgbClr val="415B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4069080"/>
            <a:ext cx="1417320" cy="20116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WAIT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291840" y="2468880"/>
            <a:ext cx="1481328" cy="73152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217920" y="2468880"/>
            <a:ext cx="1481328" cy="73152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217920" y="3566160"/>
            <a:ext cx="2194560" cy="54864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3291840" y="3547872"/>
            <a:ext cx="1481328" cy="640080"/>
          </a:xfrm>
          <a:prstGeom prst="line">
            <a:avLst/>
          </a:prstGeom>
          <a:ln w="25400">
            <a:solidFill>
              <a:srgbClr val="3DDC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11880" y="2487168"/>
            <a:ext cx="685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start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487168"/>
            <a:ext cx="685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005072"/>
            <a:ext cx="685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reset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3703320"/>
            <a:ext cx="68580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50" b="0">
                <a:solidFill>
                  <a:srgbClr val="5B6B82"/>
                </a:solidFill>
                <a:latin typeface="Aptos"/>
              </a:rPr>
              <a:t>wait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1920240"/>
            <a:ext cx="196596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7E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2121408"/>
            <a:ext cx="1645920" cy="219456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3D5A80"/>
                </a:solidFill>
                <a:latin typeface="Aptos"/>
              </a:rPr>
              <a:t>STATE 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254203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162032"/>
                </a:solidFill>
                <a:latin typeface="Aptos"/>
              </a:rPr>
              <a:t>IDLE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542032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60" b="0">
                <a:solidFill>
                  <a:srgbClr val="5B6B82"/>
                </a:solidFill>
                <a:latin typeface="Aptos"/>
              </a:rPr>
              <a:t>start → RUN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304495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162032"/>
                </a:solidFill>
                <a:latin typeface="Aptos"/>
              </a:rPr>
              <a:t>RUN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3044952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60" b="0">
                <a:solidFill>
                  <a:srgbClr val="5B6B82"/>
                </a:solidFill>
                <a:latin typeface="Aptos"/>
              </a:rPr>
              <a:t>done → DONE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0928" y="3547872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162032"/>
                </a:solidFill>
                <a:latin typeface="Aptos"/>
              </a:rP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547872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60" b="0">
                <a:solidFill>
                  <a:srgbClr val="5B6B82"/>
                </a:solidFill>
                <a:latin typeface="Aptos"/>
              </a:rPr>
              <a:t>reset → IDLE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4050791"/>
            <a:ext cx="502920" cy="18288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19" b="1">
                <a:solidFill>
                  <a:srgbClr val="162032"/>
                </a:solidFill>
                <a:latin typeface="Aptos"/>
              </a:rPr>
              <a:t>WAIT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050791"/>
            <a:ext cx="109728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860" b="0">
                <a:solidFill>
                  <a:srgbClr val="5B6B82"/>
                </a:solidFill>
                <a:latin typeface="Aptos"/>
              </a:rPr>
              <a:t>resume →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138928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5A80"/>
                </a:solidFill>
                <a:latin typeface="Aptos"/>
              </a:rPr>
              <a:t>FSM DESIGN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5111496"/>
            <a:ext cx="873252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0B1E3D"/>
                </a:solidFill>
                <a:latin typeface="Aptos"/>
              </a:rPr>
              <a:t>specification → states → transitions → flip-flops + logic → simulate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833872"/>
            <a:ext cx="10744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050" b="0">
                <a:solidFill>
                  <a:srgbClr val="5B6B82"/>
                </a:solidFill>
                <a:latin typeface="Aptos"/>
              </a:rPr>
              <a:t>Milestone: a small controller working in the simulator demonstrates the CPU's memory-and-stepping fabric.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250" b="1">
                <a:solidFill>
                  <a:srgbClr val="3DDC97"/>
                </a:solidFill>
                <a:latin typeface="Aptos"/>
              </a:rPr>
              <a:t>PROJECT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ptos"/>
              </a:rPr>
              <a:t>From Logic to a Living CPU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3317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2496312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146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COMBINATIONAL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352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Logic computes from current inputs.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9319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21024" y="4096511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41148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ALU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5354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Add, subtract, AND, OR and compare in one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3317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2496312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146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SEQUENTIAL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9352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Flip-flops and clocks give the machine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3931920"/>
            <a:ext cx="2331720" cy="1234440"/>
          </a:xfrm>
          <a:prstGeom prst="roundRect">
            <a:avLst/>
          </a:prstGeom>
          <a:solidFill>
            <a:srgbClr val="162032"/>
          </a:solidFill>
          <a:ln>
            <a:solidFill>
              <a:srgbClr val="2D4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4096511"/>
            <a:ext cx="384048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3DDC97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19" y="4114800"/>
            <a:ext cx="1508760" cy="237744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Aptos"/>
              </a:rPr>
              <a:t>CPU 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1" y="4535424"/>
            <a:ext cx="1965960" cy="45720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BFD0EC"/>
                </a:solidFill>
                <a:latin typeface="Aptos"/>
              </a:rPr>
              <a:t>Registers, PC and FSMs remember and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61320" cy="320040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Small, testable blocks combine into the first major pieces of a RISC-V CPU.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199632"/>
            <a:ext cx="12188952" cy="347472"/>
          </a:xfrm>
          <a:prstGeom prst="rect">
            <a:avLst/>
          </a:prstGeom>
          <a:noFill/>
        </p:spPr>
        <p:txBody>
          <a:bodyPr wrap="none" lIns="18288" rIns="18288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DDC97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DDCA – Module 3</dc:title>
  <dc:subject>Digital Design &amp; Computer Architecture</dc:subject>
  <dc:creator>DDCA Group 13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
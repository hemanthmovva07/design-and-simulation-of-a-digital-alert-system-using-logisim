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2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2926080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577840"/>
            <a:ext cx="4206240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822960"/>
            <a:ext cx="2496312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6035040"/>
            <a:ext cx="3867912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4076" y="124815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74236" y="554583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60636" y="79095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156948" y="600303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4173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Simulation of a</a:t>
            </a:r>
            <a:endParaRPr lang="en-US" sz="38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Alert System Using Logisim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175504" y="3703320"/>
            <a:ext cx="182880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Group 13 · Project Presentation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972" y="470916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15" name="Image 0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4855464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92124" y="52760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Samhita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92124" y="556869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2620090087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70732" y="470916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19" name="Image 1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485546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43884" y="52760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643884" y="556869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2620090108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22492" y="470916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23" name="Image 2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4855464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95644" y="52760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Sampath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295644" y="556869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2620090101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874252" y="470916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27" name="Image 3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485546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47404" y="52760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947404" y="556869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2620090109</a:t>
            </a:r>
            <a:endParaRPr 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951EA-1ED3-D9A9-BF31-5E6A615E02E0}"/>
              </a:ext>
            </a:extLst>
          </p:cNvPr>
          <p:cNvSpPr txBox="1"/>
          <p:nvPr/>
        </p:nvSpPr>
        <p:spPr>
          <a:xfrm>
            <a:off x="4505914" y="372939"/>
            <a:ext cx="2914442" cy="64633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>
            <a:spAutoFit/>
          </a:bodyPr>
          <a:lstStyle/>
          <a:p>
            <a:pPr algn="ctr"/>
            <a:r>
              <a:rPr lang="en-GB" sz="3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SemiBold SemiConden" panose="020B0502040204020203" pitchFamily="34" charset="0"/>
              </a:rPr>
              <a:t>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063240"/>
            <a:ext cx="9354312" cy="0"/>
          </a:xfrm>
          <a:prstGeom prst="line">
            <a:avLst/>
          </a:prstGeom>
          <a:noFill/>
          <a:ln w="25400">
            <a:solidFill>
              <a:srgbClr val="CBD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679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D5A80"/>
            </a:solidFill>
            <a:prstDash val="solid"/>
          </a:ln>
        </p:spPr>
      </p:sp>
      <p:pic>
        <p:nvPicPr>
          <p:cNvPr id="6" name="Image 0" descr="/home/claude/pptx_build/icons_out/eye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8895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22951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5661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142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71850" y="2679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E3D"/>
            </a:solidFill>
            <a:prstDash val="solid"/>
          </a:ln>
        </p:spPr>
      </p:sp>
      <p:pic>
        <p:nvPicPr>
          <p:cNvPr id="11" name="Image 1" descr="/home/claude/pptx_build/icons_out/has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162" y="28895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2951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41498" y="35661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95778" y="4142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 &amp; truth tables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10428" y="2679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E3D"/>
            </a:solidFill>
            <a:prstDash val="solid"/>
          </a:ln>
        </p:spPr>
      </p:sp>
      <p:pic>
        <p:nvPicPr>
          <p:cNvPr id="16" name="Image 2" descr="/home/claude/pptx_build/icons_out/gri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8895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29884" y="22951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80076" y="35661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34356" y="4142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synthesis &amp; design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49006" y="26791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E3D"/>
            </a:solidFill>
            <a:prstDash val="solid"/>
          </a:ln>
        </p:spPr>
      </p:sp>
      <p:pic>
        <p:nvPicPr>
          <p:cNvPr id="21" name="Image 3" descr="/home/claude/pptx_build/icons_out/pla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9318" y="28895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68462" y="22951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518654" y="35661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72934" y="4142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+ Git in action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0387584" y="2679192"/>
            <a:ext cx="768096" cy="768096"/>
          </a:xfrm>
          <a:prstGeom prst="ellipse">
            <a:avLst/>
          </a:prstGeom>
          <a:solidFill>
            <a:srgbClr val="3DDC97"/>
          </a:solidFill>
          <a:ln w="25400">
            <a:solidFill>
              <a:srgbClr val="3DDC97"/>
            </a:solidFill>
            <a:prstDash val="solid"/>
          </a:ln>
        </p:spPr>
      </p:sp>
      <p:pic>
        <p:nvPicPr>
          <p:cNvPr id="26" name="Image 4" descr="/home/claude/pptx_build/icons_out/fla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7896" y="28895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07040" y="229514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857232" y="35661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Conclusion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811512" y="4142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all builds toward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280160" y="4892040"/>
            <a:ext cx="9628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600200" y="4892040"/>
            <a:ext cx="89885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thread runs through every section: how small, simple building blocks combine into a reliable, real-world system.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061" y="1486747"/>
            <a:ext cx="0" cy="4709160"/>
          </a:xfrm>
          <a:prstGeom prst="line">
            <a:avLst/>
          </a:prstGeom>
          <a:noFill/>
          <a:ln w="15875">
            <a:solidFill>
              <a:srgbClr val="DD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421" y="1269831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051" y="1696212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1B2A47">
                <a:alpha val="18000"/>
              </a:srgbClr>
            </a:outerShdw>
          </a:effectLst>
        </p:spPr>
      </p:sp>
      <p:pic>
        <p:nvPicPr>
          <p:cNvPr id="7" name="Image 0" descr="/home/claude/pptx_build/icons_out/radi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43" y="18608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051" y="23180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26035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sensors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43415" y="3003804"/>
            <a:ext cx="164592" cy="237744"/>
          </a:xfrm>
          <a:prstGeom prst="downArrow">
            <a:avLst/>
          </a:prstGeom>
          <a:solidFill>
            <a:srgbClr val="3DDC97"/>
          </a:solidFill>
          <a:ln/>
        </p:spPr>
      </p:sp>
      <p:sp>
        <p:nvSpPr>
          <p:cNvPr id="11" name="Shape 8"/>
          <p:cNvSpPr/>
          <p:nvPr/>
        </p:nvSpPr>
        <p:spPr>
          <a:xfrm>
            <a:off x="617051" y="33147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1B2A47">
                <a:alpha val="18000"/>
              </a:srgbClr>
            </a:outerShdw>
          </a:effectLst>
        </p:spPr>
      </p:sp>
      <p:pic>
        <p:nvPicPr>
          <p:cNvPr id="12" name="Image 1" descr="/home/claude/pptx_build/icons_out/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43" y="34792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051" y="39364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9891" y="41930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 network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243415" y="4622292"/>
            <a:ext cx="164592" cy="237744"/>
          </a:xfrm>
          <a:prstGeom prst="downArrow">
            <a:avLst/>
          </a:prstGeom>
          <a:solidFill>
            <a:srgbClr val="3DDC97"/>
          </a:solidFill>
          <a:ln/>
        </p:spPr>
      </p:sp>
      <p:sp>
        <p:nvSpPr>
          <p:cNvPr id="16" name="Shape 12"/>
          <p:cNvSpPr/>
          <p:nvPr/>
        </p:nvSpPr>
        <p:spPr>
          <a:xfrm>
            <a:off x="617051" y="4933188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3D5A80"/>
            </a:solidFill>
            <a:prstDash val="solid"/>
          </a:ln>
          <a:effectLst>
            <a:outerShdw blurRad="76200" dist="25400" dir="5400000" algn="bl" rotWithShape="0">
              <a:srgbClr val="1B2A47">
                <a:alpha val="18000"/>
              </a:srgbClr>
            </a:outerShdw>
          </a:effectLst>
        </p:spPr>
      </p:sp>
      <p:pic>
        <p:nvPicPr>
          <p:cNvPr id="17" name="Image 2" descr="/home/claude/pptx_build/icons_out/bell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43" y="509778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051" y="55549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79891" y="58293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signal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190908" y="1249003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ABSTRACTION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36454" y="2543216"/>
            <a:ext cx="42702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7"/>
          <p:cNvSpPr/>
          <p:nvPr/>
        </p:nvSpPr>
        <p:spPr>
          <a:xfrm>
            <a:off x="6435854" y="282177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Signal — Noisy &amp; Unreliable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565054" y="3777656"/>
            <a:ext cx="146304" cy="32004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4" name="Shape 19"/>
          <p:cNvSpPr/>
          <p:nvPr/>
        </p:nvSpPr>
        <p:spPr>
          <a:xfrm>
            <a:off x="6802798" y="3594776"/>
            <a:ext cx="146304" cy="50292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5" name="Shape 20"/>
          <p:cNvSpPr/>
          <p:nvPr/>
        </p:nvSpPr>
        <p:spPr>
          <a:xfrm>
            <a:off x="7040542" y="3869096"/>
            <a:ext cx="146304" cy="22860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6" name="Shape 21"/>
          <p:cNvSpPr/>
          <p:nvPr/>
        </p:nvSpPr>
        <p:spPr>
          <a:xfrm>
            <a:off x="7278286" y="3549056"/>
            <a:ext cx="146304" cy="54864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7" name="Shape 22"/>
          <p:cNvSpPr/>
          <p:nvPr/>
        </p:nvSpPr>
        <p:spPr>
          <a:xfrm>
            <a:off x="7516030" y="3731936"/>
            <a:ext cx="146304" cy="36576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8" name="Shape 23"/>
          <p:cNvSpPr/>
          <p:nvPr/>
        </p:nvSpPr>
        <p:spPr>
          <a:xfrm>
            <a:off x="7753774" y="3640496"/>
            <a:ext cx="146304" cy="45720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29" name="Shape 24"/>
          <p:cNvSpPr/>
          <p:nvPr/>
        </p:nvSpPr>
        <p:spPr>
          <a:xfrm>
            <a:off x="7991518" y="3823376"/>
            <a:ext cx="146304" cy="27432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0" name="Shape 25"/>
          <p:cNvSpPr/>
          <p:nvPr/>
        </p:nvSpPr>
        <p:spPr>
          <a:xfrm>
            <a:off x="8229262" y="3530768"/>
            <a:ext cx="146304" cy="566928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1" name="Shape 26"/>
          <p:cNvSpPr/>
          <p:nvPr/>
        </p:nvSpPr>
        <p:spPr>
          <a:xfrm>
            <a:off x="8467006" y="3686216"/>
            <a:ext cx="146304" cy="41148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2" name="Shape 27"/>
          <p:cNvSpPr/>
          <p:nvPr/>
        </p:nvSpPr>
        <p:spPr>
          <a:xfrm>
            <a:off x="8704750" y="3841664"/>
            <a:ext cx="146304" cy="256032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3" name="Shape 28"/>
          <p:cNvSpPr/>
          <p:nvPr/>
        </p:nvSpPr>
        <p:spPr>
          <a:xfrm>
            <a:off x="8942494" y="3640496"/>
            <a:ext cx="146304" cy="45720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4" name="Shape 29"/>
          <p:cNvSpPr/>
          <p:nvPr/>
        </p:nvSpPr>
        <p:spPr>
          <a:xfrm>
            <a:off x="9180238" y="3750224"/>
            <a:ext cx="146304" cy="347472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5" name="Shape 30"/>
          <p:cNvSpPr/>
          <p:nvPr/>
        </p:nvSpPr>
        <p:spPr>
          <a:xfrm>
            <a:off x="9417982" y="3567344"/>
            <a:ext cx="146304" cy="530352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6" name="Shape 31"/>
          <p:cNvSpPr/>
          <p:nvPr/>
        </p:nvSpPr>
        <p:spPr>
          <a:xfrm>
            <a:off x="9655726" y="3795944"/>
            <a:ext cx="146304" cy="301752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7" name="Shape 32"/>
          <p:cNvSpPr/>
          <p:nvPr/>
        </p:nvSpPr>
        <p:spPr>
          <a:xfrm>
            <a:off x="9893470" y="3658784"/>
            <a:ext cx="146304" cy="438912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8" name="Shape 33"/>
          <p:cNvSpPr/>
          <p:nvPr/>
        </p:nvSpPr>
        <p:spPr>
          <a:xfrm>
            <a:off x="10131214" y="3731936"/>
            <a:ext cx="146304" cy="36576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39" name="Shape 34"/>
          <p:cNvSpPr/>
          <p:nvPr/>
        </p:nvSpPr>
        <p:spPr>
          <a:xfrm>
            <a:off x="10368958" y="3594776"/>
            <a:ext cx="146304" cy="502920"/>
          </a:xfrm>
          <a:prstGeom prst="rect">
            <a:avLst/>
          </a:prstGeom>
          <a:solidFill>
            <a:srgbClr val="E9A469"/>
          </a:solidFill>
          <a:ln/>
        </p:spPr>
      </p:sp>
      <p:sp>
        <p:nvSpPr>
          <p:cNvPr id="43" name="Shape 38"/>
          <p:cNvSpPr/>
          <p:nvPr/>
        </p:nvSpPr>
        <p:spPr>
          <a:xfrm>
            <a:off x="6336454" y="4520013"/>
            <a:ext cx="4355252" cy="181051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473952" y="4760891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Signal — Clean Binary States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538976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6" name="Shape 41"/>
          <p:cNvSpPr/>
          <p:nvPr/>
        </p:nvSpPr>
        <p:spPr>
          <a:xfrm>
            <a:off x="6776720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7" name="Shape 42"/>
          <p:cNvSpPr/>
          <p:nvPr/>
        </p:nvSpPr>
        <p:spPr>
          <a:xfrm>
            <a:off x="7014464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8" name="Shape 43"/>
          <p:cNvSpPr/>
          <p:nvPr/>
        </p:nvSpPr>
        <p:spPr>
          <a:xfrm>
            <a:off x="7252208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49" name="Shape 44"/>
          <p:cNvSpPr/>
          <p:nvPr/>
        </p:nvSpPr>
        <p:spPr>
          <a:xfrm>
            <a:off x="7489952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0" name="Shape 45"/>
          <p:cNvSpPr/>
          <p:nvPr/>
        </p:nvSpPr>
        <p:spPr>
          <a:xfrm>
            <a:off x="7727696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1" name="Shape 46"/>
          <p:cNvSpPr/>
          <p:nvPr/>
        </p:nvSpPr>
        <p:spPr>
          <a:xfrm>
            <a:off x="7965440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2" name="Shape 47"/>
          <p:cNvSpPr/>
          <p:nvPr/>
        </p:nvSpPr>
        <p:spPr>
          <a:xfrm>
            <a:off x="8203184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3" name="Shape 48"/>
          <p:cNvSpPr/>
          <p:nvPr/>
        </p:nvSpPr>
        <p:spPr>
          <a:xfrm>
            <a:off x="8440928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4" name="Shape 49"/>
          <p:cNvSpPr/>
          <p:nvPr/>
        </p:nvSpPr>
        <p:spPr>
          <a:xfrm>
            <a:off x="8678672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5" name="Shape 50"/>
          <p:cNvSpPr/>
          <p:nvPr/>
        </p:nvSpPr>
        <p:spPr>
          <a:xfrm>
            <a:off x="8916416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6" name="Shape 51"/>
          <p:cNvSpPr/>
          <p:nvPr/>
        </p:nvSpPr>
        <p:spPr>
          <a:xfrm>
            <a:off x="9154160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7" name="Shape 52"/>
          <p:cNvSpPr/>
          <p:nvPr/>
        </p:nvSpPr>
        <p:spPr>
          <a:xfrm>
            <a:off x="9391904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8" name="Shape 53"/>
          <p:cNvSpPr/>
          <p:nvPr/>
        </p:nvSpPr>
        <p:spPr>
          <a:xfrm>
            <a:off x="9629648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59" name="Shape 54"/>
          <p:cNvSpPr/>
          <p:nvPr/>
        </p:nvSpPr>
        <p:spPr>
          <a:xfrm>
            <a:off x="9867392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60" name="Shape 55"/>
          <p:cNvSpPr/>
          <p:nvPr/>
        </p:nvSpPr>
        <p:spPr>
          <a:xfrm>
            <a:off x="10105136" y="5610012"/>
            <a:ext cx="146304" cy="13716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61" name="Shape 56"/>
          <p:cNvSpPr/>
          <p:nvPr/>
        </p:nvSpPr>
        <p:spPr>
          <a:xfrm>
            <a:off x="10342880" y="5198532"/>
            <a:ext cx="146304" cy="54864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65" name="Text 60"/>
          <p:cNvSpPr/>
          <p:nvPr/>
        </p:nvSpPr>
        <p:spPr>
          <a:xfrm>
            <a:off x="6451092" y="5895763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states: 0 (LOW) and 1 (HIGH) → strong noise immunity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A3B284-1106-AD80-170B-3D816442B65B}"/>
              </a:ext>
            </a:extLst>
          </p:cNvPr>
          <p:cNvSpPr txBox="1"/>
          <p:nvPr/>
        </p:nvSpPr>
        <p:spPr>
          <a:xfrm>
            <a:off x="2448562" y="2042685"/>
            <a:ext cx="2128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Input:</a:t>
            </a:r>
            <a:r>
              <a:rPr lang="en-IN" sz="1600" dirty="0"/>
              <a:t> Sensors detect a condition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66E91A-B590-8C49-EB54-61BD87C2F267}"/>
              </a:ext>
            </a:extLst>
          </p:cNvPr>
          <p:cNvSpPr txBox="1"/>
          <p:nvPr/>
        </p:nvSpPr>
        <p:spPr>
          <a:xfrm>
            <a:off x="2472267" y="3520441"/>
            <a:ext cx="2081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Process:</a:t>
            </a:r>
            <a:r>
              <a:rPr lang="en-IN" sz="1600" dirty="0"/>
              <a:t> Logic decides what to do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6CC86B-8312-EB1A-756E-669FCE0B3311}"/>
              </a:ext>
            </a:extLst>
          </p:cNvPr>
          <p:cNvSpPr txBox="1"/>
          <p:nvPr/>
        </p:nvSpPr>
        <p:spPr>
          <a:xfrm>
            <a:off x="2446358" y="5247471"/>
            <a:ext cx="2585380" cy="58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Output:</a:t>
            </a:r>
            <a:r>
              <a:rPr lang="en-IN" sz="1600" dirty="0"/>
              <a:t> Appropriate alert is generated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B4ECFB-DF5E-75F3-91A0-59D7368CF0B0}"/>
              </a:ext>
            </a:extLst>
          </p:cNvPr>
          <p:cNvSpPr txBox="1"/>
          <p:nvPr/>
        </p:nvSpPr>
        <p:spPr>
          <a:xfrm>
            <a:off x="6163558" y="1587214"/>
            <a:ext cx="49838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"We represent each sensor condition as either 0 or 1, and the logic gates use these values to decide whether an alert should be generated."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MACHINE'S ALPHABET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Truth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0" y="1554480"/>
            <a:ext cx="0" cy="4709160"/>
          </a:xfrm>
          <a:prstGeom prst="line">
            <a:avLst/>
          </a:prstGeom>
          <a:noFill/>
          <a:ln w="15875">
            <a:solidFill>
              <a:srgbClr val="DD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RULES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7" name="Image 0" descr="/home/claude/pptx_build/icons_out/targe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21122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97034" y="2447683"/>
            <a:ext cx="32369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No sensors are active. </a:t>
            </a:r>
          </a:p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The system remains at rest. </a:t>
            </a:r>
          </a:p>
          <a:p>
            <a:pPr lvl="0"/>
            <a:r>
              <a:rPr lang="en-IN" sz="1050" b="1" dirty="0">
                <a:solidFill>
                  <a:schemeClr val="accent1">
                    <a:lumMod val="75000"/>
                  </a:schemeClr>
                </a:solidFill>
              </a:rPr>
              <a:t>S1 = 0, S2 = 0, C = 0 → No alert</a:t>
            </a:r>
            <a:endParaRPr lang="en-IN" sz="105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E8FBF3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1" name="Image 1" descr="/home/claude/pptx_build/icons_out/bell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520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3584" y="34838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Alert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70433" y="39049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050" dirty="0">
                <a:solidFill>
                  <a:schemeClr val="accent6">
                    <a:lumMod val="75000"/>
                  </a:schemeClr>
                </a:solidFill>
              </a:rPr>
              <a:t>A standard sensor detects a condition. </a:t>
            </a:r>
          </a:p>
          <a:p>
            <a:pPr lvl="0"/>
            <a:r>
              <a:rPr lang="en-IN" sz="1050" dirty="0">
                <a:solidFill>
                  <a:schemeClr val="accent6">
                    <a:lumMod val="75000"/>
                  </a:schemeClr>
                </a:solidFill>
              </a:rPr>
              <a:t>The system generates a local alert. </a:t>
            </a:r>
          </a:p>
          <a:p>
            <a:pPr lvl="0"/>
            <a:r>
              <a:rPr lang="en-IN" sz="1050" b="1" dirty="0">
                <a:solidFill>
                  <a:schemeClr val="accent6">
                    <a:lumMod val="75000"/>
                  </a:schemeClr>
                </a:solidFill>
              </a:rPr>
              <a:t>S1 or S2 = 1, C = 0 → Local alert</a:t>
            </a:r>
            <a:endParaRPr lang="en-IN" sz="105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9525">
            <a:solidFill>
              <a:srgbClr val="DDE4EE"/>
            </a:solidFill>
            <a:prstDash val="solid"/>
          </a:ln>
        </p:spPr>
      </p:sp>
      <p:pic>
        <p:nvPicPr>
          <p:cNvPr id="15" name="Image 2" descr="/home/claude/pptx_build/icons_out/aler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92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3584" y="4855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97034" y="5256137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1050" dirty="0">
                <a:solidFill>
                  <a:srgbClr val="C00000"/>
                </a:solidFill>
              </a:rPr>
              <a:t>The critical sensor detects a condition. </a:t>
            </a:r>
          </a:p>
          <a:p>
            <a:pPr lvl="0"/>
            <a:r>
              <a:rPr lang="en-IN" sz="1050" dirty="0">
                <a:solidFill>
                  <a:srgbClr val="C00000"/>
                </a:solidFill>
              </a:rPr>
              <a:t>It overrides the standard sensors. </a:t>
            </a:r>
          </a:p>
          <a:p>
            <a:pPr lvl="0"/>
            <a:r>
              <a:rPr lang="en-IN" sz="1050" b="1" dirty="0">
                <a:solidFill>
                  <a:srgbClr val="C00000"/>
                </a:solidFill>
              </a:rPr>
              <a:t>C = 1 → Critical alert</a:t>
            </a:r>
            <a:endParaRPr lang="en-IN" sz="105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9834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983480" y="188366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= Sensor A   ·   S2 = Sensor B   ·   C = Critical Sensor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2240280"/>
          <a:ext cx="6537960" cy="39776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8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35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35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35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20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35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MACHINE'S ALPHABET – BINARY LOGIC GATES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System's Primitives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39" y="1600200"/>
            <a:ext cx="2510487" cy="23545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746503"/>
            <a:ext cx="627622" cy="696137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39" y="1746503"/>
            <a:ext cx="2510487" cy="696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5" y="2441447"/>
            <a:ext cx="2252055" cy="51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if ALL inputs are 1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927340"/>
              </p:ext>
            </p:extLst>
          </p:nvPr>
        </p:nvGraphicFramePr>
        <p:xfrm>
          <a:off x="868680" y="2898648"/>
          <a:ext cx="1864406" cy="767799"/>
        </p:xfrm>
        <a:graphic>
          <a:graphicData uri="http://schemas.openxmlformats.org/drawingml/2006/table">
            <a:tbl>
              <a:tblPr/>
              <a:tblGrid>
                <a:gridCol w="1118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55264" y="1600200"/>
            <a:ext cx="2503144" cy="2368296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87952" y="1746504"/>
            <a:ext cx="625786" cy="700192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1" name="Text 8"/>
          <p:cNvSpPr/>
          <p:nvPr/>
        </p:nvSpPr>
        <p:spPr>
          <a:xfrm>
            <a:off x="3255264" y="1746504"/>
            <a:ext cx="2503144" cy="700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79" y="2441447"/>
            <a:ext cx="2245467" cy="514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ANY input is 1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93772"/>
              </p:ext>
            </p:extLst>
          </p:nvPr>
        </p:nvGraphicFramePr>
        <p:xfrm>
          <a:off x="3575303" y="2898648"/>
          <a:ext cx="1858953" cy="772269"/>
        </p:xfrm>
        <a:graphic>
          <a:graphicData uri="http://schemas.openxmlformats.org/drawingml/2006/table">
            <a:tbl>
              <a:tblPr/>
              <a:tblGrid>
                <a:gridCol w="1115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4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61888" y="1600200"/>
            <a:ext cx="2561350" cy="23545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94576" y="1746503"/>
            <a:ext cx="640338" cy="696137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6" name="Text 12"/>
          <p:cNvSpPr/>
          <p:nvPr/>
        </p:nvSpPr>
        <p:spPr>
          <a:xfrm>
            <a:off x="5961888" y="1746503"/>
            <a:ext cx="2561350" cy="696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89904" y="2441447"/>
            <a:ext cx="2297682" cy="51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the single input</a:t>
            </a:r>
            <a:endParaRPr lang="en-US" sz="950" dirty="0"/>
          </a:p>
        </p:txBody>
      </p:sp>
      <p:graphicFrame>
        <p:nvGraphicFramePr>
          <p:cNvPr id="1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93433"/>
              </p:ext>
            </p:extLst>
          </p:nvPr>
        </p:nvGraphicFramePr>
        <p:xfrm>
          <a:off x="6281927" y="2898648"/>
          <a:ext cx="1902179" cy="563052"/>
        </p:xfrm>
        <a:graphic>
          <a:graphicData uri="http://schemas.openxmlformats.org/drawingml/2006/table">
            <a:tbl>
              <a:tblPr/>
              <a:tblGrid>
                <a:gridCol w="11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5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8668512" y="1600200"/>
            <a:ext cx="2654808" cy="235458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1200" y="1746503"/>
            <a:ext cx="663702" cy="696137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6"/>
          <p:cNvSpPr/>
          <p:nvPr/>
        </p:nvSpPr>
        <p:spPr>
          <a:xfrm>
            <a:off x="8668512" y="1746503"/>
            <a:ext cx="2654808" cy="696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796527" y="2441447"/>
            <a:ext cx="2381519" cy="51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when inputs differ</a:t>
            </a:r>
            <a:endParaRPr lang="en-US" sz="950" dirty="0"/>
          </a:p>
        </p:txBody>
      </p:sp>
      <p:graphicFrame>
        <p:nvGraphicFramePr>
          <p:cNvPr id="2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1366"/>
              </p:ext>
            </p:extLst>
          </p:nvPr>
        </p:nvGraphicFramePr>
        <p:xfrm>
          <a:off x="8988551" y="2898648"/>
          <a:ext cx="1971585" cy="767799"/>
        </p:xfrm>
        <a:graphic>
          <a:graphicData uri="http://schemas.openxmlformats.org/drawingml/2006/table">
            <a:tbl>
              <a:tblPr/>
              <a:tblGrid>
                <a:gridCol w="1182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B1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411819" y="4137660"/>
            <a:ext cx="11091672" cy="2240280"/>
          </a:xfrm>
          <a:prstGeom prst="roundRect">
            <a:avLst>
              <a:gd name="adj" fmla="val 4082"/>
            </a:avLst>
          </a:prstGeom>
          <a:solidFill>
            <a:srgbClr val="0B1E3D"/>
          </a:solidFill>
          <a:ln/>
        </p:spPr>
      </p:sp>
      <p:pic>
        <p:nvPicPr>
          <p:cNvPr id="25" name="Image 0" descr="/home/claude/pptx_build/icons_out/zap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91" y="4503420"/>
            <a:ext cx="685800" cy="685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6259" y="438454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GATE UNIVERSALITY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646259" y="4732020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NAND gate is functionally complete — wired together in different patterns, NAND alone can reproduce AND, OR, NOT, and XOR.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46259" y="5417820"/>
            <a:ext cx="9464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our entire alert system — every rule on the previous slide — could be rebuilt from nothing but NAND gates. Small primitives, unlimited scale.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MACHINE'S ALPHABET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→ Circuit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3185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B1E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3520440" cy="16459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03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96512" y="3717036"/>
            <a:ext cx="201168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169164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6916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B1E3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5112" y="1984248"/>
            <a:ext cx="3520440" cy="16459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691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000" dirty="0">
                <a:solidFill>
                  <a:schemeClr val="bg2"/>
                </a:solidFill>
              </a:rPr>
              <a:t>DESIGN THE LOGIC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25112" y="2203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72984" y="3717036"/>
            <a:ext cx="201168" cy="201168"/>
          </a:xfrm>
          <a:prstGeom prst="rightArrow">
            <a:avLst/>
          </a:prstGeom>
          <a:solidFill>
            <a:srgbClr val="3DDC9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69164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6916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0B1E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1584" y="1984248"/>
            <a:ext cx="3520440" cy="16459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9" name="Text 17"/>
          <p:cNvSpPr/>
          <p:nvPr/>
        </p:nvSpPr>
        <p:spPr>
          <a:xfrm>
            <a:off x="8101584" y="1691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BUILD AND TEST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01584" y="2203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53712" y="2651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53712" y="29443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53712" y="34930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53712" y="4114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53712" y="440740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53712" y="504748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421624" y="2651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421624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21624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336024" y="27432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0570464" y="3035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421624" y="4343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101584" y="4983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2689C2-64C2-0A12-3349-44A9C7038064}"/>
              </a:ext>
            </a:extLst>
          </p:cNvPr>
          <p:cNvSpPr txBox="1"/>
          <p:nvPr/>
        </p:nvSpPr>
        <p:spPr>
          <a:xfrm>
            <a:off x="1210317" y="1735574"/>
            <a:ext cx="199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Arial Narrow" panose="020B0606020202030204" pitchFamily="34" charset="0"/>
              </a:rPr>
              <a:t>DEFINE THE RULES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C29113-7A1B-9522-E1E7-6EF27B4BCFDC}"/>
              </a:ext>
            </a:extLst>
          </p:cNvPr>
          <p:cNvSpPr txBox="1"/>
          <p:nvPr/>
        </p:nvSpPr>
        <p:spPr>
          <a:xfrm>
            <a:off x="958042" y="2550926"/>
            <a:ext cx="2749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Identify the </a:t>
            </a:r>
            <a:r>
              <a:rPr lang="en-IN" b="1" dirty="0"/>
              <a:t>sensor inputs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Decide what each sensor represents. </a:t>
            </a:r>
          </a:p>
          <a:p>
            <a:pPr lvl="0"/>
            <a:r>
              <a:rPr lang="en-IN" dirty="0"/>
              <a:t>Define when a </a:t>
            </a:r>
            <a:r>
              <a:rPr lang="en-IN" b="1" dirty="0"/>
              <a:t>Local Alert</a:t>
            </a:r>
            <a:r>
              <a:rPr lang="en-IN" dirty="0"/>
              <a:t> should occur. </a:t>
            </a:r>
          </a:p>
          <a:p>
            <a:pPr lvl="0"/>
            <a:r>
              <a:rPr lang="en-IN" dirty="0"/>
              <a:t>Define when a </a:t>
            </a:r>
            <a:r>
              <a:rPr lang="en-IN" b="1" dirty="0"/>
              <a:t>Critical Alert</a:t>
            </a:r>
            <a:r>
              <a:rPr lang="en-IN" dirty="0"/>
              <a:t> should occur. </a:t>
            </a:r>
          </a:p>
          <a:p>
            <a:pPr lvl="0"/>
            <a:r>
              <a:rPr lang="en-IN" dirty="0"/>
              <a:t>Write the expected output for each condition</a:t>
            </a:r>
          </a:p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070CF6-D1BE-0195-6153-28730463C123}"/>
              </a:ext>
            </a:extLst>
          </p:cNvPr>
          <p:cNvSpPr txBox="1"/>
          <p:nvPr/>
        </p:nvSpPr>
        <p:spPr>
          <a:xfrm>
            <a:off x="4566597" y="2500759"/>
            <a:ext cx="32926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Create a </a:t>
            </a:r>
            <a:r>
              <a:rPr lang="en-IN" b="1" dirty="0"/>
              <a:t>truth table</a:t>
            </a:r>
            <a:r>
              <a:rPr lang="en-IN" dirty="0"/>
              <a:t> for all possible inputs. </a:t>
            </a:r>
          </a:p>
          <a:p>
            <a:pPr lvl="0"/>
            <a:r>
              <a:rPr lang="en-IN" dirty="0"/>
              <a:t>Convert the required </a:t>
            </a:r>
            <a:r>
              <a:rPr lang="en-IN" dirty="0" err="1"/>
              <a:t>behavior</a:t>
            </a:r>
            <a:r>
              <a:rPr lang="en-IN" dirty="0"/>
              <a:t> into a </a:t>
            </a:r>
            <a:r>
              <a:rPr lang="en-IN" b="1" dirty="0"/>
              <a:t>Boolean expression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Simplify the expression where possible. </a:t>
            </a:r>
          </a:p>
          <a:p>
            <a:pPr lvl="0"/>
            <a:r>
              <a:rPr lang="en-IN" dirty="0"/>
              <a:t>Select the required </a:t>
            </a:r>
            <a:r>
              <a:rPr lang="en-IN" b="1" dirty="0"/>
              <a:t>logic gates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Connect the gates according to the Boolean logic.</a:t>
            </a:r>
          </a:p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0C2DB9-E903-0BE5-8C15-5C48CFFA3A5C}"/>
              </a:ext>
            </a:extLst>
          </p:cNvPr>
          <p:cNvSpPr txBox="1"/>
          <p:nvPr/>
        </p:nvSpPr>
        <p:spPr>
          <a:xfrm>
            <a:off x="8521377" y="2426485"/>
            <a:ext cx="28263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Build the circuit in </a:t>
            </a:r>
            <a:r>
              <a:rPr lang="en-IN" b="1" dirty="0"/>
              <a:t>Logisim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Connect the sensor inputs and alert outputs. </a:t>
            </a:r>
          </a:p>
          <a:p>
            <a:pPr lvl="0"/>
            <a:r>
              <a:rPr lang="en-IN" dirty="0"/>
              <a:t>Change the inputs to simulate different conditions. </a:t>
            </a:r>
          </a:p>
          <a:p>
            <a:pPr lvl="0"/>
            <a:r>
              <a:rPr lang="en-IN" dirty="0"/>
              <a:t>Compare the actual outputs with the </a:t>
            </a:r>
            <a:r>
              <a:rPr lang="en-IN" b="1" dirty="0"/>
              <a:t>truth table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Check that the system responds correctly in every case.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0" y="1554480"/>
            <a:ext cx="0" cy="4709160"/>
          </a:xfrm>
          <a:prstGeom prst="line">
            <a:avLst/>
          </a:prstGeom>
          <a:noFill/>
          <a:ln w="15875">
            <a:solidFill>
              <a:srgbClr val="DDE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LOGISIM CANVAS</a:t>
            </a:r>
            <a:endParaRPr lang="en-US" sz="1150" dirty="0"/>
          </a:p>
        </p:txBody>
      </p:sp>
      <p:sp>
        <p:nvSpPr>
          <p:cNvPr id="148" name="Text 145"/>
          <p:cNvSpPr/>
          <p:nvPr/>
        </p:nvSpPr>
        <p:spPr>
          <a:xfrm>
            <a:off x="227987" y="545231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simulation: signal states update instantly as inputs change.</a:t>
            </a:r>
            <a:endParaRPr lang="en-US" sz="1600" dirty="0"/>
          </a:p>
        </p:txBody>
      </p:sp>
      <p:sp>
        <p:nvSpPr>
          <p:cNvPr id="172" name="Text 165"/>
          <p:cNvSpPr/>
          <p:nvPr/>
        </p:nvSpPr>
        <p:spPr>
          <a:xfrm>
            <a:off x="7040880" y="6035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3" name="Text 166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174" name="Text 16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96F259C3-A64D-8BA0-0F92-28BF3E55C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1146"/>
            <a:ext cx="4749326" cy="2621468"/>
          </a:xfrm>
          <a:prstGeom prst="rect">
            <a:avLst/>
          </a:prstGeom>
        </p:spPr>
      </p:pic>
      <p:graphicFrame>
        <p:nvGraphicFramePr>
          <p:cNvPr id="177" name="Table 176">
            <a:extLst>
              <a:ext uri="{FF2B5EF4-FFF2-40B4-BE49-F238E27FC236}">
                <a16:creationId xmlns:a16="http://schemas.microsoft.com/office/drawing/2014/main" id="{61C56CB2-64AC-7074-B02D-77AFFFA1B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13212"/>
              </p:ext>
            </p:extLst>
          </p:nvPr>
        </p:nvGraphicFramePr>
        <p:xfrm>
          <a:off x="5613994" y="484908"/>
          <a:ext cx="6117758" cy="5989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0558">
                  <a:extLst>
                    <a:ext uri="{9D8B030D-6E8A-4147-A177-3AD203B41FA5}">
                      <a16:colId xmlns:a16="http://schemas.microsoft.com/office/drawing/2014/main" val="414882933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10938081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686497597"/>
                    </a:ext>
                  </a:extLst>
                </a:gridCol>
              </a:tblGrid>
              <a:tr h="332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Logisim component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Represents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Function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386511490"/>
                  </a:ext>
                </a:extLst>
              </a:tr>
              <a:tr h="831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S1 switch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Standard Sensor A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Gives 0 or 1 depending on whether the sensor is active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846177377"/>
                  </a:ext>
                </a:extLst>
              </a:tr>
              <a:tr h="831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S2 switch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Standard Sensor B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Gives 0 or 1 depending on whether the sensor is active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390796626"/>
                  </a:ext>
                </a:extLst>
              </a:tr>
              <a:tr h="831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 switch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Critical Sensor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Gives 0 or 1 depending on whether a critical condition is detected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128559862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NOT gate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Critical condition check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Converts C into C’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185025076"/>
                  </a:ext>
                </a:extLst>
              </a:tr>
              <a:tr h="58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OR gate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Standard sensor combination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Gives 1 if S1 or S2 is active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697498754"/>
                  </a:ext>
                </a:extLst>
              </a:tr>
              <a:tr h="831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AND gate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Local-alert decision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Produces Local only when a standard sensor is active and C is 0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972469183"/>
                  </a:ext>
                </a:extLst>
              </a:tr>
              <a:tr h="108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Local LED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Localized Alert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Turns ON when a standard sensor triggers without a critical condition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726480722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332386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&amp; Edge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8FBF3"/>
          </a:solidFill>
          <a:ln w="15875">
            <a:solidFill>
              <a:srgbClr val="3DDC97"/>
            </a:solidFill>
            <a:prstDash val="solid"/>
          </a:ln>
        </p:spPr>
      </p:sp>
      <p:pic>
        <p:nvPicPr>
          <p:cNvPr id="5" name="Image 0" descr="/home/claude/pptx_build/icons_out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4752" y="18928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44752" y="22037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every non-critical row of the truth table.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41248" y="274320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F0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8529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sensors active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16382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stays Idle — output 0,0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1248" y="384048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F0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9502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 triggers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426110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Alert fires correctly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1248" y="493776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F0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504748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standard sensors trigger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535838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Alert holds, no false Critical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3E0"/>
          </a:solidFill>
          <a:ln w="15875">
            <a:solidFill>
              <a:srgbClr val="FFB020"/>
            </a:solidFill>
            <a:prstDash val="solid"/>
          </a:ln>
        </p:spPr>
      </p:sp>
      <p:pic>
        <p:nvPicPr>
          <p:cNvPr id="18" name="Image 1" descr="/home/claude/pptx_build/icons_out/aler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745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59752" y="18928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EDGE CASES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159752" y="22037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to confirm the circuit fails safely, never silently.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556248" y="274320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7DCB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28529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sensor fires alone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720840" y="316382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 overrides Idle instantly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556248" y="384048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7DC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0840" y="39502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+ standard sensors together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720840" y="426110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 still wins — no conflict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556248" y="4937760"/>
            <a:ext cx="46725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7DC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20840" y="504748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trigger simultaneously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20840" y="535838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remains stable and deterministic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466344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7914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528523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Primitives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66928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the atomic units of every digital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4096512"/>
            <a:ext cx="2514600" cy="2167128"/>
          </a:xfrm>
          <a:prstGeom prst="roundRect">
            <a:avLst>
              <a:gd name="adj" fmla="val 2532"/>
            </a:avLst>
          </a:prstGeom>
          <a:solidFill>
            <a:srgbClr val="335073"/>
          </a:solidFill>
          <a:ln/>
        </p:spPr>
      </p:sp>
      <p:sp>
        <p:nvSpPr>
          <p:cNvPr id="9" name="Text 7"/>
          <p:cNvSpPr/>
          <p:nvPr/>
        </p:nvSpPr>
        <p:spPr>
          <a:xfrm>
            <a:off x="3483864" y="4224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83864" y="4718304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83864" y="5102352"/>
            <a:ext cx="21854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give a provably complete specification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8464" y="3529584"/>
            <a:ext cx="2514600" cy="2734056"/>
          </a:xfrm>
          <a:prstGeom prst="roundRect">
            <a:avLst>
              <a:gd name="adj" fmla="val 2182"/>
            </a:avLst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63056" y="415137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Synthesis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4535424"/>
            <a:ext cx="218541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equations bridge logic and physical hardware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77656" y="2962656"/>
            <a:ext cx="2514600" cy="3300984"/>
          </a:xfrm>
          <a:prstGeom prst="roundRect">
            <a:avLst>
              <a:gd name="adj" fmla="val 2182"/>
            </a:avLst>
          </a:prstGeom>
          <a:solidFill>
            <a:srgbClr val="081733"/>
          </a:solidFill>
          <a:ln/>
        </p:spPr>
      </p:sp>
      <p:sp>
        <p:nvSpPr>
          <p:cNvPr id="17" name="Text 15"/>
          <p:cNvSpPr/>
          <p:nvPr/>
        </p:nvSpPr>
        <p:spPr>
          <a:xfrm>
            <a:off x="8842248" y="3090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42248" y="358444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2248" y="3968496"/>
            <a:ext cx="2185416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principles scale to full computer systems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FBF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1554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8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reliable building blocks — combined with discipline — create big, reliable systems. That is the throughline from this alert circuit to real computer architecture.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Group 13 · Digital Alert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2926080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577840"/>
            <a:ext cx="4206240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822960"/>
            <a:ext cx="2496312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6035040"/>
            <a:ext cx="3867912" cy="0"/>
          </a:xfrm>
          <a:prstGeom prst="line">
            <a:avLst/>
          </a:prstGeom>
          <a:noFill/>
          <a:ln w="15875">
            <a:solidFill>
              <a:srgbClr val="3DDC97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4076" y="124815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74236" y="554583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60636" y="79095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156948" y="6003036"/>
            <a:ext cx="64008" cy="64008"/>
          </a:xfrm>
          <a:prstGeom prst="ellipse">
            <a:avLst/>
          </a:prstGeom>
          <a:solidFill>
            <a:srgbClr val="3DDC97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554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5394960" y="2432304"/>
            <a:ext cx="1399032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606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Group 13 · Digital Alert System Using Logisim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" y="3246120"/>
            <a:ext cx="2395728" cy="1143000"/>
          </a:xfrm>
          <a:prstGeom prst="roundRect">
            <a:avLst>
              <a:gd name="adj" fmla="val 7200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14" name="Image 0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532" y="337413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92124" y="37216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Samhitha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92124" y="40050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2620090087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70732" y="3246120"/>
            <a:ext cx="2395728" cy="1143000"/>
          </a:xfrm>
          <a:prstGeom prst="roundRect">
            <a:avLst>
              <a:gd name="adj" fmla="val 7200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18" name="Image 1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337413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43884" y="37216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643884" y="40050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2620090108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22492" y="3246120"/>
            <a:ext cx="2395728" cy="1143000"/>
          </a:xfrm>
          <a:prstGeom prst="roundRect">
            <a:avLst>
              <a:gd name="adj" fmla="val 7200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22" name="Image 2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337413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95644" y="37216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Sampath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95644" y="40050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2620090101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874252" y="3246120"/>
            <a:ext cx="2395728" cy="1143000"/>
          </a:xfrm>
          <a:prstGeom prst="roundRect">
            <a:avLst>
              <a:gd name="adj" fmla="val 7200"/>
            </a:avLst>
          </a:prstGeom>
          <a:solidFill>
            <a:srgbClr val="13294F"/>
          </a:solidFill>
          <a:ln w="9525">
            <a:solidFill>
              <a:srgbClr val="2C4A78"/>
            </a:solidFill>
            <a:prstDash val="solid"/>
          </a:ln>
        </p:spPr>
      </p:sp>
      <p:pic>
        <p:nvPicPr>
          <p:cNvPr id="26" name="Image 3" descr="/home/claude/pptx_build/icons_out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812" y="337413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947404" y="37216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947404" y="40050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2620090109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270248" y="50749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984</Words>
  <Application>Microsoft Office PowerPoint</Application>
  <PresentationFormat>Widescreen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Narrow</vt:lpstr>
      <vt:lpstr>Bahnschrift SemiBold SemiConden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SAMHITA PTG</cp:lastModifiedBy>
  <cp:revision>2</cp:revision>
  <dcterms:created xsi:type="dcterms:W3CDTF">2026-09-03T04:28:16Z</dcterms:created>
  <dcterms:modified xsi:type="dcterms:W3CDTF">2026-09-10T04:15:52Z</dcterms:modified>
</cp:coreProperties>
</file>